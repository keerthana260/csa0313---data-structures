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5" r:id="rId7"/>
    <p:sldId id="266" r:id="rId8"/>
    <p:sldId id="267" r:id="rId9"/>
    <p:sldId id="268" r:id="rId10"/>
    <p:sldId id="271" r:id="rId11"/>
    <p:sldId id="269" r:id="rId12"/>
    <p:sldId id="270" r:id="rId13"/>
  </p:sldIdLst>
  <p:sldSz cx="18288000" cy="10287000"/>
  <p:notesSz cx="6858000" cy="9144000"/>
  <p:embeddedFontLst>
    <p:embeddedFont>
      <p:font typeface="Times" panose="02020603050405020304" pitchFamily="18" charset="0"/>
      <p:regular r:id="rId14"/>
      <p:bold r:id="rId15"/>
      <p:italic r:id="rId16"/>
      <p:boldItalic r:id="rId17"/>
    </p:embeddedFont>
    <p:embeddedFont>
      <p:font typeface="Times New Roman MT" panose="020B0604020202020204" charset="0"/>
      <p:regular r:id="rId18"/>
    </p:embeddedFont>
    <p:embeddedFont>
      <p:font typeface="Times New Roman MT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2061" y="7477271"/>
            <a:ext cx="6940976" cy="1800493"/>
            <a:chOff x="0" y="0"/>
            <a:chExt cx="9254635" cy="24006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54635" cy="2400658"/>
            </a:xfrm>
            <a:custGeom>
              <a:avLst/>
              <a:gdLst/>
              <a:ahLst/>
              <a:cxnLst/>
              <a:rect l="l" t="t" r="r" b="b"/>
              <a:pathLst>
                <a:path w="9254635" h="2400658">
                  <a:moveTo>
                    <a:pt x="0" y="0"/>
                  </a:moveTo>
                  <a:lnTo>
                    <a:pt x="9254635" y="0"/>
                  </a:lnTo>
                  <a:lnTo>
                    <a:pt x="9254635" y="2400658"/>
                  </a:lnTo>
                  <a:lnTo>
                    <a:pt x="0" y="2400658"/>
                  </a:lnTo>
                  <a:close/>
                </a:path>
              </a:pathLst>
            </a:custGeom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254635" cy="245780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PRESENTED BY </a:t>
              </a:r>
            </a:p>
            <a:p>
              <a:pPr algn="ctr">
                <a:lnSpc>
                  <a:spcPts val="3240"/>
                </a:lnSpc>
              </a:pPr>
              <a:endPara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KEERTHANA.S 192471047</a:t>
              </a:r>
            </a:p>
            <a:p>
              <a:pPr algn="ctr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3435017" y="739191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2"/>
                </a:lnTo>
                <a:lnTo>
                  <a:pt x="0" y="146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06623" y="3194813"/>
            <a:ext cx="12874752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LIBRARY SEARCH USING ISBN NUMBERS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19590" y="4302352"/>
            <a:ext cx="6848817" cy="619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TECHNICAL 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0" y="5393201"/>
            <a:ext cx="9938925" cy="47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CSA0313 – DATA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48302" y="2424473"/>
            <a:ext cx="4591395" cy="75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5"/>
              </a:lnSpc>
            </a:pPr>
            <a:r>
              <a:rPr lang="en-US" sz="4021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24000" y="3565537"/>
            <a:ext cx="13792200" cy="4614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Digital Library stores and manages thousands of books electronically.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book is identified by a unique ISBN number for accurate searching.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searching is essential for quickly locating books among 50,000 records.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identifies the most suitable data structure by comparing the time complexity of different searching methods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Freeform 4"/>
          <p:cNvSpPr/>
          <p:nvPr/>
        </p:nvSpPr>
        <p:spPr>
          <a:xfrm>
            <a:off x="3435017" y="576452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3"/>
                </a:lnTo>
                <a:lnTo>
                  <a:pt x="0" y="146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8400" y="3771900"/>
            <a:ext cx="11871148" cy="4506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library contains 50,000 book records.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book has a unique ISBN number.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require fast book searching.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searching reduces system efficiency.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identify the best data structure for searching. </a:t>
            </a:r>
          </a:p>
        </p:txBody>
      </p:sp>
      <p:sp>
        <p:nvSpPr>
          <p:cNvPr id="3" name="Freeform 3"/>
          <p:cNvSpPr/>
          <p:nvPr/>
        </p:nvSpPr>
        <p:spPr>
          <a:xfrm>
            <a:off x="3435017" y="574222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3"/>
                </a:lnTo>
                <a:lnTo>
                  <a:pt x="0" y="146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49941" y="2552700"/>
            <a:ext cx="5588117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14600" y="3799566"/>
            <a:ext cx="11532940" cy="4506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data structures.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searching time complexities.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most efficient data structure.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Justify the selection using performance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search speed and scalability.</a:t>
            </a:r>
          </a:p>
        </p:txBody>
      </p:sp>
      <p:sp>
        <p:nvSpPr>
          <p:cNvPr id="3" name="Freeform 3"/>
          <p:cNvSpPr/>
          <p:nvPr/>
        </p:nvSpPr>
        <p:spPr>
          <a:xfrm>
            <a:off x="3246696" y="575858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3"/>
                </a:lnTo>
                <a:lnTo>
                  <a:pt x="0" y="146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67600" y="2644047"/>
            <a:ext cx="5594618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29451" y="2705100"/>
            <a:ext cx="786274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COMPARED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09800" y="3554936"/>
            <a:ext cx="12416710" cy="615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Array + Linear Search</a:t>
            </a:r>
            <a:endParaRPr lang="en-IN" sz="4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Search: </a:t>
            </a: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O(n)</a:t>
            </a:r>
            <a:endParaRPr lang="en-IN" sz="4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Sorted Array + Binary Search</a:t>
            </a:r>
            <a:endParaRPr lang="en-IN" sz="4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Search: </a:t>
            </a: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O(log n)</a:t>
            </a:r>
            <a:endParaRPr lang="en-IN" sz="4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Binary Search Tree (BST)</a:t>
            </a:r>
            <a:endParaRPr lang="en-IN" sz="4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Search: </a:t>
            </a: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O(log n)</a:t>
            </a: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 (Average)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AVL Tree</a:t>
            </a:r>
            <a:endParaRPr lang="en-IN" sz="4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Search: </a:t>
            </a: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O(log n)</a:t>
            </a:r>
            <a:endParaRPr lang="en-IN" sz="4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Hash Table</a:t>
            </a:r>
            <a:endParaRPr lang="en-IN" sz="4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Search: </a:t>
            </a: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O(1)</a:t>
            </a: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 (Average)</a:t>
            </a:r>
          </a:p>
        </p:txBody>
      </p:sp>
      <p:sp>
        <p:nvSpPr>
          <p:cNvPr id="4" name="Freeform 4"/>
          <p:cNvSpPr/>
          <p:nvPr/>
        </p:nvSpPr>
        <p:spPr>
          <a:xfrm>
            <a:off x="3391583" y="576533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3"/>
                </a:lnTo>
                <a:lnTo>
                  <a:pt x="0" y="146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2600" y="2654012"/>
            <a:ext cx="13058797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TIME COMPLEXITY COMPARISON</a:t>
            </a:r>
          </a:p>
        </p:txBody>
      </p:sp>
      <p:sp>
        <p:nvSpPr>
          <p:cNvPr id="4" name="Freeform 4"/>
          <p:cNvSpPr/>
          <p:nvPr/>
        </p:nvSpPr>
        <p:spPr>
          <a:xfrm>
            <a:off x="3391583" y="623614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2"/>
                </a:lnTo>
                <a:lnTo>
                  <a:pt x="0" y="146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7CF87-C37C-A0C6-FA4F-3F57C044B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223445"/>
              </p:ext>
            </p:extLst>
          </p:nvPr>
        </p:nvGraphicFramePr>
        <p:xfrm>
          <a:off x="3200400" y="3712750"/>
          <a:ext cx="12039600" cy="4783548"/>
        </p:xfrm>
        <a:graphic>
          <a:graphicData uri="http://schemas.openxmlformats.org/drawingml/2006/table">
            <a:tbl>
              <a:tblPr firstRow="1" bandRow="1"/>
              <a:tblGrid>
                <a:gridCol w="6019800">
                  <a:extLst>
                    <a:ext uri="{9D8B030D-6E8A-4147-A177-3AD203B41FA5}">
                      <a16:colId xmlns:a16="http://schemas.microsoft.com/office/drawing/2014/main" val="2595055118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380315763"/>
                    </a:ext>
                  </a:extLst>
                </a:gridCol>
              </a:tblGrid>
              <a:tr h="797258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SEARCH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116336"/>
                  </a:ext>
                </a:extLst>
              </a:tr>
              <a:tr h="797258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LINEAR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635924"/>
                  </a:ext>
                </a:extLst>
              </a:tr>
              <a:tr h="797258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BINARY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818266"/>
                  </a:ext>
                </a:extLst>
              </a:tr>
              <a:tr h="797258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O(log n)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905482"/>
                  </a:ext>
                </a:extLst>
              </a:tr>
              <a:tr h="797258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AVL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O(log n)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042525"/>
                  </a:ext>
                </a:extLst>
              </a:tr>
              <a:tr h="797258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HASH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202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41090" y="2748658"/>
            <a:ext cx="10205819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3500" b="1" dirty="0">
                <a:latin typeface="Times" panose="02020603050405020304" pitchFamily="18" charset="0"/>
                <a:cs typeface="Times" panose="02020603050405020304" pitchFamily="18" charset="0"/>
              </a:rPr>
              <a:t>SELECTED DATA STRUCTURE – HASH TABLE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90800" y="3848100"/>
            <a:ext cx="12739223" cy="498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" panose="02020603050405020304" pitchFamily="18" charset="0"/>
                <a:cs typeface="Times" panose="02020603050405020304" pitchFamily="18" charset="0"/>
              </a:rPr>
              <a:t>ISBN is a unique identifier, making it an ideal key for hashing.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" panose="02020603050405020304" pitchFamily="18" charset="0"/>
                <a:cs typeface="Times" panose="02020603050405020304" pitchFamily="18" charset="0"/>
              </a:rPr>
              <a:t>A hash function converts the ISBN into a unique index in the hash table.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" panose="02020603050405020304" pitchFamily="18" charset="0"/>
                <a:cs typeface="Times" panose="02020603050405020304" pitchFamily="18" charset="0"/>
              </a:rPr>
              <a:t>The required book record can be accessed directly without searching through all records.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" panose="02020603050405020304" pitchFamily="18" charset="0"/>
                <a:cs typeface="Times" panose="02020603050405020304" pitchFamily="18" charset="0"/>
              </a:rPr>
              <a:t>Provides an average search time of O(1), making searches extremely fast.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" panose="02020603050405020304" pitchFamily="18" charset="0"/>
                <a:cs typeface="Times" panose="02020603050405020304" pitchFamily="18" charset="0"/>
              </a:rPr>
              <a:t>Suitable for handling 50,000 or more book records with high efficiency.</a:t>
            </a:r>
          </a:p>
        </p:txBody>
      </p:sp>
      <p:sp>
        <p:nvSpPr>
          <p:cNvPr id="4" name="Freeform 4"/>
          <p:cNvSpPr/>
          <p:nvPr/>
        </p:nvSpPr>
        <p:spPr>
          <a:xfrm>
            <a:off x="3435017" y="576533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3"/>
                </a:lnTo>
                <a:lnTo>
                  <a:pt x="0" y="146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38800" y="2552700"/>
            <a:ext cx="7010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WORKING OF HASH TABLE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62200" y="4040981"/>
            <a:ext cx="12240771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User enters the </a:t>
            </a: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ISBN number</a:t>
            </a: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The system applies a </a:t>
            </a: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hash function</a:t>
            </a: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 to the ISBN.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The hash function generates a </a:t>
            </a: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hash index</a:t>
            </a: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The system accesses the corresponding </a:t>
            </a: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bucket/index</a:t>
            </a: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 in the hash table.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The matching </a:t>
            </a: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book details</a:t>
            </a:r>
            <a:r>
              <a:rPr lang="en-IN" sz="4000" dirty="0">
                <a:latin typeface="Times" panose="02020603050405020304" pitchFamily="18" charset="0"/>
                <a:cs typeface="Times" panose="02020603050405020304" pitchFamily="18" charset="0"/>
              </a:rPr>
              <a:t> are displayed instantly.</a:t>
            </a:r>
          </a:p>
        </p:txBody>
      </p:sp>
      <p:sp>
        <p:nvSpPr>
          <p:cNvPr id="4" name="Freeform 4"/>
          <p:cNvSpPr/>
          <p:nvPr/>
        </p:nvSpPr>
        <p:spPr>
          <a:xfrm>
            <a:off x="3435017" y="576533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3"/>
                </a:lnTo>
                <a:lnTo>
                  <a:pt x="0" y="146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40355" y="2476500"/>
            <a:ext cx="360728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</a:rPr>
              <a:t>ADVANTAGES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31831" y="3340318"/>
            <a:ext cx="11160369" cy="636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>
                <a:latin typeface="Times" panose="02020603050405020304" pitchFamily="18" charset="0"/>
                <a:cs typeface="Times" panose="02020603050405020304" pitchFamily="18" charset="0"/>
              </a:rPr>
              <a:t>Very fast searching with an average time complexity of O(1).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>
                <a:latin typeface="Times" panose="02020603050405020304" pitchFamily="18" charset="0"/>
                <a:cs typeface="Times" panose="02020603050405020304" pitchFamily="18" charset="0"/>
              </a:rPr>
              <a:t>Efficient for managing large datasets such as digital libraries.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>
                <a:latin typeface="Times" panose="02020603050405020304" pitchFamily="18" charset="0"/>
                <a:cs typeface="Times" panose="02020603050405020304" pitchFamily="18" charset="0"/>
              </a:rPr>
              <a:t>Supports quick insertion and deletion of book records.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>
                <a:latin typeface="Times" panose="02020603050405020304" pitchFamily="18" charset="0"/>
                <a:cs typeface="Times" panose="02020603050405020304" pitchFamily="18" charset="0"/>
              </a:rPr>
              <a:t>Highly scalable as the number of books increases.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>
                <a:latin typeface="Times" panose="02020603050405020304" pitchFamily="18" charset="0"/>
                <a:cs typeface="Times" panose="02020603050405020304" pitchFamily="18" charset="0"/>
              </a:rPr>
              <a:t>Improves the overall user experience by reducing search time.</a:t>
            </a:r>
          </a:p>
        </p:txBody>
      </p:sp>
      <p:sp>
        <p:nvSpPr>
          <p:cNvPr id="4" name="Freeform 4"/>
          <p:cNvSpPr/>
          <p:nvPr/>
        </p:nvSpPr>
        <p:spPr>
          <a:xfrm>
            <a:off x="3435017" y="576533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3"/>
                </a:lnTo>
                <a:lnTo>
                  <a:pt x="0" y="146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64B79-E5CC-6CF2-3942-8B62438E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173E86F-280F-335A-75F0-42204EAC7137}"/>
              </a:ext>
            </a:extLst>
          </p:cNvPr>
          <p:cNvSpPr txBox="1"/>
          <p:nvPr/>
        </p:nvSpPr>
        <p:spPr>
          <a:xfrm>
            <a:off x="7010400" y="2525250"/>
            <a:ext cx="3581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BD2BBA1-7EC0-E8C7-CD95-915085561950}"/>
              </a:ext>
            </a:extLst>
          </p:cNvPr>
          <p:cNvSpPr txBox="1"/>
          <p:nvPr/>
        </p:nvSpPr>
        <p:spPr>
          <a:xfrm>
            <a:off x="2971800" y="3610063"/>
            <a:ext cx="11160369" cy="5717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collisions may occur when two ISBNs map to the same index.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 additional memory to store the hash table.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worst case, search time may become O(n) if many collisions occur.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 hash function is required to maintain high performance.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6FFC927-5FB2-815E-FF7F-9A93E2EAFC85}"/>
              </a:ext>
            </a:extLst>
          </p:cNvPr>
          <p:cNvSpPr/>
          <p:nvPr/>
        </p:nvSpPr>
        <p:spPr>
          <a:xfrm>
            <a:off x="3435017" y="576533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3"/>
                </a:lnTo>
                <a:lnTo>
                  <a:pt x="0" y="146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58721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71132" y="2671572"/>
            <a:ext cx="3783992" cy="619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80365" y="3543300"/>
            <a:ext cx="14127270" cy="584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 structures were compared based on their search time 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Search, Binary Search, BST, AVL Tree, and Hash Table were evaluated.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 provides the best average search performance with O(1) time 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 fast, accurate, and scalable searching of books using ISBN numbers.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 Hash Table is the recommended data structure for efficient ISBN-based book searching in a digital library.</a:t>
            </a:r>
          </a:p>
        </p:txBody>
      </p:sp>
      <p:sp>
        <p:nvSpPr>
          <p:cNvPr id="4" name="Freeform 4"/>
          <p:cNvSpPr/>
          <p:nvPr/>
        </p:nvSpPr>
        <p:spPr>
          <a:xfrm>
            <a:off x="3435017" y="670694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2"/>
                </a:lnTo>
                <a:lnTo>
                  <a:pt x="0" y="146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7302" y="4518613"/>
            <a:ext cx="7846528" cy="1624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7"/>
              </a:lnSpc>
            </a:pPr>
            <a:r>
              <a:rPr lang="en-US" sz="957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3391583" y="529453"/>
            <a:ext cx="11417967" cy="1464103"/>
          </a:xfrm>
          <a:custGeom>
            <a:avLst/>
            <a:gdLst/>
            <a:ahLst/>
            <a:cxnLst/>
            <a:rect l="l" t="t" r="r" b="b"/>
            <a:pathLst>
              <a:path w="11417967" h="1464103">
                <a:moveTo>
                  <a:pt x="0" y="0"/>
                </a:moveTo>
                <a:lnTo>
                  <a:pt x="11417966" y="0"/>
                </a:lnTo>
                <a:lnTo>
                  <a:pt x="11417966" y="1464103"/>
                </a:lnTo>
                <a:lnTo>
                  <a:pt x="0" y="146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554</Words>
  <Application>Microsoft Office PowerPoint</Application>
  <PresentationFormat>Custom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Times New Roman</vt:lpstr>
      <vt:lpstr>Arial</vt:lpstr>
      <vt:lpstr>Times New Roman MT Bold</vt:lpstr>
      <vt:lpstr>Times New Roman MT</vt:lpstr>
      <vt:lpstr>Calibri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PRESENTATION.pptx</dc:title>
  <dc:creator>Keerthana S</dc:creator>
  <cp:lastModifiedBy>Keerthana S</cp:lastModifiedBy>
  <cp:revision>2</cp:revision>
  <dcterms:created xsi:type="dcterms:W3CDTF">2006-08-16T00:00:00Z</dcterms:created>
  <dcterms:modified xsi:type="dcterms:W3CDTF">2026-07-24T15:24:40Z</dcterms:modified>
  <dc:identifier>DAGs7rwmybE</dc:identifier>
</cp:coreProperties>
</file>